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g8pcw//aX1o1mLASVZX7z2NuPV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60AB67-7447-4A67-A9CE-9BCBBDFBCE8B}">
  <a:tblStyle styleId="{3D60AB67-7447-4A67-A9CE-9BCBBDFBCE8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Google Shape;41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8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8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4" name="Google Shape;464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3" name="Google Shape;493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7" name="Google Shape;507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1" name="Google Shape;541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2" name="Google Shape;552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4" name="Google Shape;564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4" name="Google Shape;574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" name="Google Shape;583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5.png"/><Relationship Id="rId8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37.png"/><Relationship Id="rId5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Relationship Id="rId4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D5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6675120" y="274320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7013448" y="274320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351776" y="274320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7690104" y="274320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028432" y="274320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675120" y="612648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013448" y="612648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51776" y="612648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690104" y="612648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028432" y="612648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675120" y="950976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013448" y="950976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351776" y="950976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690104" y="950976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8028432" y="950976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675120" y="1289304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7013448" y="1289304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351776" y="1289304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690104" y="1289304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028432" y="1289304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675120" y="1627632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7013448" y="1627632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7351776" y="1627632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7690104" y="1627632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8028432" y="1627632"/>
            <a:ext cx="164592" cy="164592"/>
          </a:xfrm>
          <a:prstGeom prst="ellipse">
            <a:avLst/>
          </a:prstGeom>
          <a:solidFill>
            <a:srgbClr val="F0A500">
              <a:alpha val="25098"/>
            </a:srgbClr>
          </a:solidFill>
          <a:ln cap="flat" cmpd="sng" w="12700">
            <a:solidFill>
              <a:srgbClr val="F0A50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Australian Election 2019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731520" y="1481328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Tweet Analysis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731520" y="228600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NLP Insights &amp; Predictive Modeling of Retweet Engagement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731520" y="2834640"/>
            <a:ext cx="5029200" cy="36576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731520" y="294436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731520" y="32461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Logan Terr  ·  Zarina Owens  ·  Anushka Rajoriya  ·  Niharika Sharma  ·  Wendy Zheng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D1E3D"/>
          </a:solidFill>
          <a:ln cap="flat" cmpd="sng" w="12700">
            <a:solidFill>
              <a:srgbClr val="0D1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731520" y="4736592"/>
            <a:ext cx="8229600" cy="4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OPIM 5671 - Data Mining &amp; Time Series Forecasting  |  University of Connecticut 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65760" y="5943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The Data: 183,000+ Australian Election Tweets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20040" y="1207008"/>
            <a:ext cx="205740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320040" y="1207008"/>
            <a:ext cx="2057400" cy="8229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20040" y="1389888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183,349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20040" y="1901952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Total Tweets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2496312" y="1207008"/>
            <a:ext cx="205740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2496312" y="1207008"/>
            <a:ext cx="2057400" cy="82296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2496312" y="1389888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10 Days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2496312" y="1901952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 10 - 20, 2019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672584" y="1207008"/>
            <a:ext cx="205740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672584" y="1207008"/>
            <a:ext cx="2057400" cy="82296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672584" y="1389888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672584" y="1901952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Columns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848856" y="1207008"/>
            <a:ext cx="205740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848856" y="1207008"/>
            <a:ext cx="2057400" cy="82296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6848856" y="1389888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May 18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848856" y="1901952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Election Day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320040" y="2578608"/>
            <a:ext cx="406908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320040" y="2578608"/>
            <a:ext cx="54864" cy="22860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30352" y="2688336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Research Goal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530350" y="3054100"/>
            <a:ext cx="36126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explore how public opinion evolved during the 2019 Australian federal election by exploring sentiment and emotions to determine what makes certain tweets more likely to go viral.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572000" y="2578608"/>
            <a:ext cx="425196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4572000" y="2578608"/>
            <a:ext cx="54864" cy="228600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4773168" y="2688336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Key Columns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4773168" y="3054096"/>
            <a:ext cx="3840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full_text - raw tweet content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retweet_count - target variable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favorite_count - likes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created_at - timestamp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user_* - author metadata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7863840" y="486460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/ 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BASIC DATA EXPLORATION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65760" y="5943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Basic Data Structure &amp; Null Values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20040" y="1207008"/>
            <a:ext cx="5287272" cy="3611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20040" y="1207008"/>
            <a:ext cx="54864" cy="361188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30352" y="1316736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Key Observations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30352" y="1700784"/>
            <a:ext cx="4674472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183,379 total tweets in dataset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full_text is the primary analysis column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retweet_count &amp; favorite_count: 9 null values dropped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user_description: 15,720 nulls → filled with empty string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user_location: 36,894 nulls → filled with empty string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Focus: full_text column </a:t>
            </a:r>
            <a:r>
              <a:rPr lang="en-US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other nulls not critical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7863840" y="486460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/ 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0449" y="1636776"/>
            <a:ext cx="2743199" cy="2427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INSIGHTS - RETWEETS &amp; FAVORITES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65760" y="5943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Distribution of Retweets &amp; Likes (183,379 Tweets)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20040" y="1170432"/>
            <a:ext cx="3647398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20040" y="1170432"/>
            <a:ext cx="54864" cy="594360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02920" y="118872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34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E8734A"/>
                </a:solidFill>
                <a:latin typeface="Calibri"/>
                <a:ea typeface="Calibri"/>
                <a:cs typeface="Calibri"/>
                <a:sym typeface="Calibri"/>
              </a:rPr>
              <a:t>34%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280160" y="118872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Tweets retweeted at least once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663440" y="1195370"/>
            <a:ext cx="3875998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668125" y="1202020"/>
            <a:ext cx="54864" cy="5943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937760" y="118872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60%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715000" y="118872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Tweets liked at least once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20040" y="4818888"/>
            <a:ext cx="8503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Most tweets get 0 retweets - log transformation reveals the heavy-tailed distribution clearly.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7863840" y="486460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/ 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3538728"/>
            <a:ext cx="3836193" cy="973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1914792"/>
            <a:ext cx="2226070" cy="1492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0627" y="3289346"/>
            <a:ext cx="2291913" cy="1599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683" y="1911378"/>
            <a:ext cx="2860111" cy="149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INSIGHTS - LIKES VS RETWEETS RELATIONSHIP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65760" y="5943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Popularity vs Virality: Are They Correlated?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pptx_unpacked/ppt/media/image4.png" id="123" name="Google Shape;1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170432"/>
            <a:ext cx="50292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/>
          <p:nvPr/>
        </p:nvSpPr>
        <p:spPr>
          <a:xfrm>
            <a:off x="5532120" y="1170432"/>
            <a:ext cx="329184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532120" y="1170432"/>
            <a:ext cx="54864" cy="13716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715000" y="126187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Key Finding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715000" y="1609344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Likes and retweets are positively correlated, but the relationship is non-linear. Most tweets cluster near zero on both axes.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532120" y="2651760"/>
            <a:ext cx="3291840" cy="1947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532120" y="2651760"/>
            <a:ext cx="54864" cy="1947672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715000" y="274320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Most Viral Tweet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715000" y="3090672"/>
            <a:ext cx="2926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3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E8734A"/>
                </a:solidFill>
                <a:latin typeface="Calibri"/>
                <a:ea typeface="Calibri"/>
                <a:cs typeface="Calibri"/>
                <a:sym typeface="Calibri"/>
              </a:rPr>
              <a:t>Retweets: 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6,622</a:t>
            </a:r>
            <a:b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Likes: 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15,559</a:t>
            </a:r>
            <a:b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"Shocking defeat for Left in Australia… Conservative @ScottMorrisonMP focused on Jobs and Immigration, while Labor focused on #ClimateChange"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7863840" y="486460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/ 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PROJECT OUTLINE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65760" y="5943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Data Mining Steps &amp; Analysis Pipeline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20040" y="1188720"/>
            <a:ext cx="4251960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320040" y="1188720"/>
            <a:ext cx="4251960" cy="7315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84632" y="1371600"/>
            <a:ext cx="502920" cy="50292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84632" y="1371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124712" y="135331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Basic Data Exploration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1124712" y="1700784"/>
            <a:ext cx="3291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Null analysis, distributions, likes vs retweets relationships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754880" y="1188720"/>
            <a:ext cx="4251960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754880" y="1188720"/>
            <a:ext cx="4251960" cy="73152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919472" y="1371600"/>
            <a:ext cx="502920" cy="502920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919472" y="1371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559552" y="135331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Data Processing Pipeline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559552" y="1700784"/>
            <a:ext cx="3291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Lowercase, tokenize, stopword removal, lemmatization → full_text_Clean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320040" y="2395728"/>
            <a:ext cx="4251960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20040" y="2395728"/>
            <a:ext cx="4251960" cy="73152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84632" y="2578608"/>
            <a:ext cx="502920" cy="502920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84632" y="25786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1124712" y="25603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Feature Extraction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124712" y="2907792"/>
            <a:ext cx="3291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Sentiment (TextBlob), Emotions (NRC Lexicon), Novel insights on tone &amp; themes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754880" y="2395728"/>
            <a:ext cx="4251960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754880" y="2395728"/>
            <a:ext cx="4251960" cy="73152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919472" y="2578608"/>
            <a:ext cx="502920" cy="502920"/>
          </a:xfrm>
          <a:prstGeom prst="ellipse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919472" y="25786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559552" y="25603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Topic Modeling (LDA)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559552" y="2907792"/>
            <a:ext cx="3291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Bag-of-Words → gensim LDA → 5 topics identified via coherence score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20040" y="3602736"/>
            <a:ext cx="4251960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20040" y="3602736"/>
            <a:ext cx="4251960" cy="7315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84632" y="3785616"/>
            <a:ext cx="502920" cy="50292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84632" y="378561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124712" y="376732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Predictive Modeling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124712" y="4114800"/>
            <a:ext cx="3291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 1: Linear Regression  |  Model 2: Gradient Boosting + log-transform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754880" y="3602736"/>
            <a:ext cx="4251960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754880" y="3602736"/>
            <a:ext cx="4251960" cy="73152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919472" y="3785616"/>
            <a:ext cx="502920" cy="50292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919472" y="378561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5559552" y="376732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Key Insights &amp; Takeaways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559552" y="4114800"/>
            <a:ext cx="3291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Temporal trends, party sentiment, virality drivers, emotion arc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7863840" y="486460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/ 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DATA PROCESSING PIPELINE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65760" y="5943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Cleaning &amp; Preparing Tweet Text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20040" y="1280160"/>
            <a:ext cx="457200" cy="45720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320040" y="1280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25780" y="1737360"/>
            <a:ext cx="36576" cy="201168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960120" y="1170432"/>
            <a:ext cx="786384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960120" y="1170432"/>
            <a:ext cx="54864" cy="60350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1143000" y="1225296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Lowercase &amp; Contractions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1143000" y="1490472"/>
            <a:ext cx="7406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Convert to lowercase; expand contractions ("can't" → "cannot")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20040" y="2002536"/>
            <a:ext cx="457200" cy="457200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20040" y="20025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25780" y="2459736"/>
            <a:ext cx="36576" cy="201168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960120" y="1892808"/>
            <a:ext cx="786384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960120" y="1892808"/>
            <a:ext cx="54864" cy="603504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1143000" y="1947672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Remove Noise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143000" y="2212848"/>
            <a:ext cx="7406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Strip punctuation, special chars, URLs via regex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320040" y="2724912"/>
            <a:ext cx="457200" cy="457200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320040" y="27249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25780" y="3182112"/>
            <a:ext cx="36576" cy="201168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960120" y="2615184"/>
            <a:ext cx="786384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960120" y="2615184"/>
            <a:ext cx="54864" cy="603504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1143000" y="267004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Tokenization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1143000" y="2935224"/>
            <a:ext cx="7406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Split into word tokens using NLTK word_tokenize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320040" y="3447288"/>
            <a:ext cx="457200" cy="457200"/>
          </a:xfrm>
          <a:prstGeom prst="ellipse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320040" y="34472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25780" y="3904488"/>
            <a:ext cx="36576" cy="201168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960120" y="3337560"/>
            <a:ext cx="786384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960120" y="3337560"/>
            <a:ext cx="54864" cy="603504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1143000" y="3392424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Stopword Removal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1143000" y="3657600"/>
            <a:ext cx="7406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Remove common English + election-specific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320040" y="4169664"/>
            <a:ext cx="457200" cy="45720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320040" y="41696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960120" y="4059936"/>
            <a:ext cx="786384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960120" y="4059936"/>
            <a:ext cx="54864" cy="60350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1143000" y="4114800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Lemmatization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1143000" y="4379976"/>
            <a:ext cx="7406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Reduce to base form: "running" → "run" using WordNetLemmatizer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960120" y="480060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→ Clean text stored in df['full_text_Clean']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7863840" y="486460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/ 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TEXT PREPROCESSING - PROCESS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7863840" y="486460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0" name="Google Shape;230;p8"/>
          <p:cNvGrpSpPr/>
          <p:nvPr/>
        </p:nvGrpSpPr>
        <p:grpSpPr>
          <a:xfrm>
            <a:off x="547817" y="1206437"/>
            <a:ext cx="8028148" cy="1186853"/>
            <a:chOff x="3531" y="71380"/>
            <a:chExt cx="8028148" cy="1186853"/>
          </a:xfrm>
        </p:grpSpPr>
        <p:sp>
          <p:nvSpPr>
            <p:cNvPr id="231" name="Google Shape;231;p8"/>
            <p:cNvSpPr/>
            <p:nvPr/>
          </p:nvSpPr>
          <p:spPr>
            <a:xfrm>
              <a:off x="3531" y="71380"/>
              <a:ext cx="1543874" cy="1186853"/>
            </a:xfrm>
            <a:prstGeom prst="roundRect">
              <a:avLst>
                <a:gd fmla="val 10000" name="adj"/>
              </a:avLst>
            </a:prstGeom>
            <a:solidFill>
              <a:srgbClr val="4372C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8"/>
            <p:cNvSpPr txBox="1"/>
            <p:nvPr/>
          </p:nvSpPr>
          <p:spPr>
            <a:xfrm>
              <a:off x="38293" y="106142"/>
              <a:ext cx="1474350" cy="1117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Lowercasing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1701793" y="473366"/>
              <a:ext cx="327301" cy="38288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BBA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8"/>
            <p:cNvSpPr txBox="1"/>
            <p:nvPr/>
          </p:nvSpPr>
          <p:spPr>
            <a:xfrm>
              <a:off x="1701793" y="549942"/>
              <a:ext cx="229111" cy="229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2164956" y="71380"/>
              <a:ext cx="1543874" cy="1186853"/>
            </a:xfrm>
            <a:prstGeom prst="roundRect">
              <a:avLst>
                <a:gd fmla="val 10000" name="adj"/>
              </a:avLst>
            </a:prstGeom>
            <a:solidFill>
              <a:srgbClr val="4372C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8"/>
            <p:cNvSpPr txBox="1"/>
            <p:nvPr/>
          </p:nvSpPr>
          <p:spPr>
            <a:xfrm>
              <a:off x="2199718" y="106142"/>
              <a:ext cx="1474350" cy="1117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Removing Punctuation &amp; Special Character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3863218" y="473366"/>
              <a:ext cx="327301" cy="38288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BBA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8"/>
            <p:cNvSpPr txBox="1"/>
            <p:nvPr/>
          </p:nvSpPr>
          <p:spPr>
            <a:xfrm>
              <a:off x="3863218" y="549942"/>
              <a:ext cx="229111" cy="229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4326380" y="71380"/>
              <a:ext cx="1543874" cy="1186853"/>
            </a:xfrm>
            <a:prstGeom prst="roundRect">
              <a:avLst>
                <a:gd fmla="val 10000" name="adj"/>
              </a:avLst>
            </a:prstGeom>
            <a:solidFill>
              <a:srgbClr val="4372C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8"/>
            <p:cNvSpPr txBox="1"/>
            <p:nvPr/>
          </p:nvSpPr>
          <p:spPr>
            <a:xfrm>
              <a:off x="4361142" y="106142"/>
              <a:ext cx="1474350" cy="1117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Tokenization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8"/>
            <p:cNvSpPr/>
            <p:nvPr/>
          </p:nvSpPr>
          <p:spPr>
            <a:xfrm>
              <a:off x="6024643" y="473366"/>
              <a:ext cx="327301" cy="38288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BBA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8"/>
            <p:cNvSpPr txBox="1"/>
            <p:nvPr/>
          </p:nvSpPr>
          <p:spPr>
            <a:xfrm>
              <a:off x="6024643" y="549942"/>
              <a:ext cx="229111" cy="229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8"/>
            <p:cNvSpPr/>
            <p:nvPr/>
          </p:nvSpPr>
          <p:spPr>
            <a:xfrm>
              <a:off x="6487805" y="71380"/>
              <a:ext cx="1543874" cy="1186853"/>
            </a:xfrm>
            <a:prstGeom prst="roundRect">
              <a:avLst>
                <a:gd fmla="val 10000" name="adj"/>
              </a:avLst>
            </a:prstGeom>
            <a:solidFill>
              <a:srgbClr val="4372C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8"/>
            <p:cNvSpPr txBox="1"/>
            <p:nvPr/>
          </p:nvSpPr>
          <p:spPr>
            <a:xfrm>
              <a:off x="6522567" y="106142"/>
              <a:ext cx="1474350" cy="1117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Removing Generic Stop Words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5" name="Google Shape;2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104" y="2464671"/>
            <a:ext cx="1868967" cy="960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414" y="3573688"/>
            <a:ext cx="1754657" cy="948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13359" y="2424873"/>
            <a:ext cx="577265" cy="2297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48985" y="2464670"/>
            <a:ext cx="1246058" cy="1329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3368" y="2501926"/>
            <a:ext cx="1886114" cy="1091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40576" y="2460365"/>
            <a:ext cx="1846105" cy="1154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CUSTOM STOPWORD ANALYSIS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365760" y="50567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Determining Domain-Specific Stopwords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pptx_unpacked/ppt/media/image11.png" id="259" name="Google Shape;2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570953"/>
            <a:ext cx="4591371" cy="2978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tmp/pptx_unpacked/ppt/media/image14.png" id="260" name="Google Shape;26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5464" y="1607529"/>
            <a:ext cx="1554480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tmp/pptx_unpacked/ppt/media/image18.png" id="261" name="Google Shape;26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5931" y="1616673"/>
            <a:ext cx="1880608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9"/>
          <p:cNvSpPr/>
          <p:nvPr/>
        </p:nvSpPr>
        <p:spPr>
          <a:xfrm>
            <a:off x="5026179" y="3783801"/>
            <a:ext cx="3383280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5026179" y="3783801"/>
            <a:ext cx="54864" cy="1078992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5140479" y="3792945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5163339" y="4020337"/>
            <a:ext cx="3063240" cy="769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Removed: auspol, ausvotes, australia, amp, ausvotes2019, etc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Kept: years (2019 etc.) — may provide temporal context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Removed: generic high-freq terms that add no semantic value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7863840" y="486460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 / 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7" name="Google Shape;267;p9"/>
          <p:cNvGrpSpPr/>
          <p:nvPr/>
        </p:nvGrpSpPr>
        <p:grpSpPr>
          <a:xfrm>
            <a:off x="1099082" y="985736"/>
            <a:ext cx="6945836" cy="475489"/>
            <a:chOff x="2434" y="0"/>
            <a:chExt cx="8303312" cy="717319"/>
          </a:xfrm>
        </p:grpSpPr>
        <p:sp>
          <p:nvSpPr>
            <p:cNvPr id="268" name="Google Shape;268;p9"/>
            <p:cNvSpPr/>
            <p:nvPr/>
          </p:nvSpPr>
          <p:spPr>
            <a:xfrm>
              <a:off x="2434" y="0"/>
              <a:ext cx="2965468" cy="717319"/>
            </a:xfrm>
            <a:prstGeom prst="chevron">
              <a:avLst>
                <a:gd fmla="val 50000" name="adj"/>
              </a:avLst>
            </a:prstGeom>
            <a:solidFill>
              <a:srgbClr val="11151A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9"/>
            <p:cNvSpPr txBox="1"/>
            <p:nvPr/>
          </p:nvSpPr>
          <p:spPr>
            <a:xfrm>
              <a:off x="361094" y="0"/>
              <a:ext cx="2248149" cy="7173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325" lIns="64000" spcFirstLastPara="1" rIns="21325" wrap="square" tIns="21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Analyzing top words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9"/>
            <p:cNvSpPr/>
            <p:nvPr/>
          </p:nvSpPr>
          <p:spPr>
            <a:xfrm>
              <a:off x="2671356" y="0"/>
              <a:ext cx="2965468" cy="717319"/>
            </a:xfrm>
            <a:prstGeom prst="chevron">
              <a:avLst>
                <a:gd fmla="val 50000" name="adj"/>
              </a:avLst>
            </a:prstGeom>
            <a:solidFill>
              <a:srgbClr val="11151A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9"/>
            <p:cNvSpPr txBox="1"/>
            <p:nvPr/>
          </p:nvSpPr>
          <p:spPr>
            <a:xfrm>
              <a:off x="3030016" y="0"/>
              <a:ext cx="2248149" cy="7173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325" lIns="64000" spcFirstLastPara="1" rIns="21325" wrap="square" tIns="21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Determining high frequent words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9"/>
            <p:cNvSpPr/>
            <p:nvPr/>
          </p:nvSpPr>
          <p:spPr>
            <a:xfrm>
              <a:off x="5340278" y="0"/>
              <a:ext cx="2965468" cy="717319"/>
            </a:xfrm>
            <a:prstGeom prst="chevron">
              <a:avLst>
                <a:gd fmla="val 50000" name="adj"/>
              </a:avLst>
            </a:prstGeom>
            <a:solidFill>
              <a:srgbClr val="11151A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9"/>
            <p:cNvSpPr txBox="1"/>
            <p:nvPr/>
          </p:nvSpPr>
          <p:spPr>
            <a:xfrm>
              <a:off x="5698938" y="0"/>
              <a:ext cx="2248149" cy="7173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325" lIns="64000" spcFirstLastPara="1" rIns="21325" wrap="square" tIns="21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Analyzing frequent numbers &amp; their context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TEXT PREPROCESSING - RESULTS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7863840" y="486460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/ 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2" name="Google Shape;282;p10"/>
          <p:cNvGrpSpPr/>
          <p:nvPr/>
        </p:nvGrpSpPr>
        <p:grpSpPr>
          <a:xfrm>
            <a:off x="347942" y="831747"/>
            <a:ext cx="8031424" cy="706794"/>
            <a:chOff x="1893" y="0"/>
            <a:chExt cx="8031424" cy="706794"/>
          </a:xfrm>
        </p:grpSpPr>
        <p:sp>
          <p:nvSpPr>
            <p:cNvPr id="283" name="Google Shape;283;p10"/>
            <p:cNvSpPr/>
            <p:nvPr/>
          </p:nvSpPr>
          <p:spPr>
            <a:xfrm>
              <a:off x="1893" y="0"/>
              <a:ext cx="3782199" cy="706794"/>
            </a:xfrm>
            <a:prstGeom prst="roundRect">
              <a:avLst>
                <a:gd fmla="val 10000" name="adj"/>
              </a:avLst>
            </a:prstGeom>
            <a:solidFill>
              <a:srgbClr val="4372C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0"/>
            <p:cNvSpPr txBox="1"/>
            <p:nvPr/>
          </p:nvSpPr>
          <p:spPr>
            <a:xfrm>
              <a:off x="22594" y="20701"/>
              <a:ext cx="3740797" cy="665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Removing Finalized Custom Stopwords</a:t>
              </a:r>
              <a:endParaRPr b="0" i="0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0"/>
            <p:cNvSpPr/>
            <p:nvPr/>
          </p:nvSpPr>
          <p:spPr>
            <a:xfrm>
              <a:off x="4162312" y="0"/>
              <a:ext cx="801826" cy="706794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BBA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0"/>
            <p:cNvSpPr txBox="1"/>
            <p:nvPr/>
          </p:nvSpPr>
          <p:spPr>
            <a:xfrm>
              <a:off x="4162312" y="141359"/>
              <a:ext cx="589788" cy="4240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0"/>
            <p:cNvSpPr/>
            <p:nvPr/>
          </p:nvSpPr>
          <p:spPr>
            <a:xfrm>
              <a:off x="5296972" y="0"/>
              <a:ext cx="2736345" cy="706794"/>
            </a:xfrm>
            <a:prstGeom prst="roundRect">
              <a:avLst>
                <a:gd fmla="val 10000" name="adj"/>
              </a:avLst>
            </a:prstGeom>
            <a:solidFill>
              <a:srgbClr val="4372C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0"/>
            <p:cNvSpPr txBox="1"/>
            <p:nvPr/>
          </p:nvSpPr>
          <p:spPr>
            <a:xfrm>
              <a:off x="5317673" y="20701"/>
              <a:ext cx="2694943" cy="665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Lemmatization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9" name="Google Shape;28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942" y="1683282"/>
            <a:ext cx="3782199" cy="2154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786" y="4195895"/>
            <a:ext cx="3012066" cy="668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6886" y="1806373"/>
            <a:ext cx="2074725" cy="104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931" y="2986155"/>
            <a:ext cx="1968634" cy="123761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0"/>
          <p:cNvSpPr txBox="1"/>
          <p:nvPr/>
        </p:nvSpPr>
        <p:spPr>
          <a:xfrm>
            <a:off x="4250307" y="1806373"/>
            <a:ext cx="1395509" cy="2031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After removing custom stopwords, the word cloud becomes more focused, highlighting meaningful political entities (e.g., “Morrison,” “Liberal,” “Shorten”) rather than generic terms like “Australia” or “vote.”</a:t>
            </a:r>
            <a:endParaRPr b="1" sz="10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SENTIMENT &amp; EMOTION ANALYSIS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365760" y="5943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Measuring Tone with TextBlob &amp; NRC Lexicon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320040" y="1181202"/>
            <a:ext cx="4160400" cy="361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320040" y="1170432"/>
            <a:ext cx="54864" cy="361188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320040" y="1170432"/>
            <a:ext cx="4160520" cy="8229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502920" y="1335024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TextBlob Sentiment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502920" y="1700784"/>
            <a:ext cx="3794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Polarity: 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−1.0 (negative) → +1.0 (positive)</a:t>
            </a:r>
            <a:b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Saved as: </a:t>
            </a:r>
            <a:r>
              <a:rPr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df['TextBlob_Sentiment']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663440" y="1170432"/>
            <a:ext cx="4160520" cy="3611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663440" y="1170432"/>
            <a:ext cx="54864" cy="361188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4663440" y="1170432"/>
            <a:ext cx="4160520" cy="82296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4846320" y="1335024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NRC Emotion Lexicon — 8 Emotions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4846320" y="1700784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😠 Anger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4846320" y="1883664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😨 Fear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4846320" y="2066544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⏳ Anticipation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4846320" y="2249424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🤝 Trust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6766560" y="1700784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😮 Surprise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6766560" y="1883664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😢 Sadness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6766560" y="2066544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😊 Joy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6766560" y="2249424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🤢 Disgust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7863840" y="486460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 / 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" name="Google Shape;3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7708" y="2249424"/>
            <a:ext cx="1545183" cy="245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2875" y="2454975"/>
            <a:ext cx="2840522" cy="2181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INSIGHT 1 - TEMPORAL SENTIMENT ANALYSIS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365760" y="5943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Sentiment Shifted Dramatically on Election Day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365760" y="4700016"/>
            <a:ext cx="8412480" cy="4434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finding: Tweet volume peaked on Election Day (45K+ tweets). Sentiment rose sharply post-election as the surprise Coalition victory generated positive reactions.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750" y="1036035"/>
            <a:ext cx="5484761" cy="3334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INSIGHT 2 - POLITICAL PARTY SENTIMENT COMPARISON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365760" y="5943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Coalition Tweets Were 87% More Positive Than Labor Tweets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320040" y="1170432"/>
            <a:ext cx="425196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320040" y="1170432"/>
            <a:ext cx="4251960" cy="82296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502920" y="129844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🔵 Coalition / Morrison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502920" y="163677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Keywords: morrison, liberal, coalition, lnp  |  Avg Sentiment: +0.058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4727448" y="1170432"/>
            <a:ext cx="425196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4727448" y="1170432"/>
            <a:ext cx="4251960" cy="82296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4910328" y="129844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🔴 Labor / Shorten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4910328" y="163677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Keywords: shorten, labor, alp, labour  |  Avg Sentiment: +0.031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Coalition-focused tweets showed 87% higher average sentiment. Trust scores also favor Coalition coverage — reflecting pre-result polling expectations and the surprise Conservative win.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7738" y="2265710"/>
            <a:ext cx="4994951" cy="221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INSIGHT 3 - WHAT MAKES TWEETS GO VIRAL?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365760" y="5943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Viral Tweets: More Hashtags, Mentions &amp; Specific Topics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365760" y="969264"/>
            <a:ext cx="8412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Top 1% by retweet count (≥25 retweets) vs the remaining 99%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1" name="Google Shape;361;p14"/>
          <p:cNvGraphicFramePr/>
          <p:nvPr/>
        </p:nvGraphicFramePr>
        <p:xfrm>
          <a:off x="137802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{3D60AB67-7447-4A67-A9CE-9BCBBDFBCE8B}</a:tableStyleId>
              </a:tblPr>
              <a:tblGrid>
                <a:gridCol w="1920250"/>
                <a:gridCol w="1051550"/>
                <a:gridCol w="1051550"/>
                <a:gridCol w="1051550"/>
              </a:tblGrid>
              <a:tr h="326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Viral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5A"/>
                    </a:solidFill>
                  </a:tcPr>
                </a:tc>
              </a:tr>
              <a:tr h="326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Retweets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312.4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34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87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390×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6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Hashtag Count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34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87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+100%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26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Mention Count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1.9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34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87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+111%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6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Tweet Length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34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87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+14%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26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Has URL (%)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34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87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+24%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6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Sentiment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+0.072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+0.042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34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87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+71%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362" name="Google Shape;362;p14"/>
          <p:cNvSpPr/>
          <p:nvPr/>
        </p:nvSpPr>
        <p:spPr>
          <a:xfrm>
            <a:off x="5473931" y="3703320"/>
            <a:ext cx="3569863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5656811" y="3794760"/>
            <a:ext cx="3280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Top Viral Topics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5656811" y="4256116"/>
            <a:ext cx="328041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T3: Morrison Victory  ·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T2: Labor/Shorten  ·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T0: Voting Day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5656811" y="4398264"/>
            <a:ext cx="3280415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7863840" y="486460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 / 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889" y="3639310"/>
            <a:ext cx="4906474" cy="1316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INSIGHT 4 - EMOTION DYNAMICS OVER TIME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365760" y="5943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Fear Spiked Before Election Day, Joy Surged After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320040" y="3602736"/>
            <a:ext cx="416052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320040" y="3602736"/>
            <a:ext cx="54864" cy="11887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502920" y="369417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😨 Before Election Day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502920" y="4041648"/>
            <a:ext cx="3794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Fear and anger were elevated — voters expressed uncertainty and anxiety about the electoral outcome.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4663440" y="3602736"/>
            <a:ext cx="416052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4663440" y="3602736"/>
            <a:ext cx="54864" cy="118872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4846320" y="369417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😊 After Election Day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4846320" y="4041648"/>
            <a:ext cx="3794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Joy and trust surged — the unexpected Coalition victory generated widespread positive emotion across the Twittersphere.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7863840" y="486460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 / 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" name="Google Shape;3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820" y="1161288"/>
            <a:ext cx="6008924" cy="2246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INSIGHT 5 - TOPIC × EMOTION PROFILE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365760" y="5943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Each Topic Carries a Distinct Emotional Signature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pptx_unpacked/ppt/media/image25.png" id="394" name="Google Shape;39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170432"/>
            <a:ext cx="8503920" cy="288036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6"/>
          <p:cNvSpPr/>
          <p:nvPr/>
        </p:nvSpPr>
        <p:spPr>
          <a:xfrm>
            <a:off x="320040" y="4169664"/>
            <a:ext cx="27432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320040" y="4169664"/>
            <a:ext cx="54864" cy="74980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502920" y="4242816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T4 Climate/Policy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502920" y="4507992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Highest anger &amp; fear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3172968" y="4169664"/>
            <a:ext cx="27432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3172968" y="4169664"/>
            <a:ext cx="54864" cy="74980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3355848" y="4242816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T3 Morrison Victory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3355848" y="4507992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Highest joy &amp; trust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6025896" y="4169664"/>
            <a:ext cx="27432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6025896" y="4169664"/>
            <a:ext cx="54864" cy="749808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6208776" y="4242816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T0 Voting Day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6208776" y="4507992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Most joyful (democracy sausage!)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7863840" y="486460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16 / 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TOPIC MODELING - LDA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365760" y="5943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5 Hidden Themes Discovered in 183,000 Tweets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365760" y="969264"/>
            <a:ext cx="8412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Bag-of-Words → gensim LDA → tested 1–10 topics by coherence score → optimal: 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320040" y="2487168"/>
            <a:ext cx="1645920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320040" y="2487168"/>
            <a:ext cx="1645920" cy="8229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393192" y="2633472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T0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393192" y="299923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Voting Day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393192" y="3337560"/>
            <a:ext cx="1508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vote, democracy, sausage, voting, today, party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2039112" y="2487168"/>
            <a:ext cx="1645920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2039112" y="2487168"/>
            <a:ext cx="1645920" cy="82296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2112264" y="2633472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T1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2112264" y="299923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Economic Policy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2112264" y="3337560"/>
            <a:ext cx="1508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coalition, housing, wage, price, education, qanda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/>
          <p:nvPr/>
        </p:nvSpPr>
        <p:spPr>
          <a:xfrm>
            <a:off x="3758184" y="2487168"/>
            <a:ext cx="1645920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3758184" y="2487168"/>
            <a:ext cx="1645920" cy="82296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3831336" y="2633472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34A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E8734A"/>
                </a:solidFill>
                <a:latin typeface="Calibri"/>
                <a:ea typeface="Calibri"/>
                <a:cs typeface="Calibri"/>
                <a:sym typeface="Calibri"/>
              </a:rPr>
              <a:t>T2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3831336" y="299923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Labor / Shorten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3831336" y="3337560"/>
            <a:ext cx="1508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labor, shorten, bill, poll, 7news, tonight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5477256" y="2487168"/>
            <a:ext cx="1645920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5477256" y="2487168"/>
            <a:ext cx="1645920" cy="82296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5550408" y="2633472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T3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5550408" y="299923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Morrison Victory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5550408" y="3337560"/>
            <a:ext cx="1508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australiavotes, morrison, scott, victory, launch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7196328" y="2487168"/>
            <a:ext cx="1645920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7196328" y="2487168"/>
            <a:ext cx="1645920" cy="8229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7269480" y="2633472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T4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7269480" y="299923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Climate &amp; Policy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7269480" y="3337560"/>
            <a:ext cx="1508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climate, change, labor, policy, tax, liberal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7863840" y="486460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17 / 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3" name="Google Shape;4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7932" y="1159550"/>
            <a:ext cx="5983227" cy="1210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ADVANCED NLP - LLM TOPIC LABELING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365760" y="5943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Topic Labeling with LLMs: BERT &amp; LLaMA 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320040" y="1170432"/>
            <a:ext cx="4069080" cy="2563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320040" y="1170432"/>
            <a:ext cx="54864" cy="248716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521208" y="126187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BERT Implementation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521208" y="1627632"/>
            <a:ext cx="3749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Loaded bert-base-uncased model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Tokenization of all tweet text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Generated contextual embeddings using [CLS] token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Embeddings used as dense feature representation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521208" y="265176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LLaMA 2 Pipeline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521208" y="2980944"/>
            <a:ext cx="3749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Generative topic labeling via LLaMA 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Prompt engineering: feed top LDA words → get human-readable label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HuggingFace auth: token generation + LLaMA 2 access approval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pptx_unpacked/ppt/media/image36.png" id="458" name="Google Shape;4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70432"/>
            <a:ext cx="4251960" cy="2487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tmp/pptx_unpacked/ppt/media/image35.png" id="459" name="Google Shape;4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3858768"/>
            <a:ext cx="4069080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tmp/pptx_unpacked/ppt/media/image37.png" id="460" name="Google Shape;4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3858768"/>
            <a:ext cx="425196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8"/>
          <p:cNvSpPr/>
          <p:nvPr/>
        </p:nvSpPr>
        <p:spPr>
          <a:xfrm>
            <a:off x="7863840" y="486460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18 / 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PREDICTIVE ANALYSIS - SETUP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365760" y="5943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Predicting Retweet Count from Text Features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9"/>
          <p:cNvSpPr/>
          <p:nvPr/>
        </p:nvSpPr>
        <p:spPr>
          <a:xfrm>
            <a:off x="320040" y="1170432"/>
            <a:ext cx="8503920" cy="9326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9"/>
          <p:cNvSpPr/>
          <p:nvPr/>
        </p:nvSpPr>
        <p:spPr>
          <a:xfrm>
            <a:off x="320040" y="1170432"/>
            <a:ext cx="54864" cy="932688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9"/>
          <p:cNvSpPr/>
          <p:nvPr/>
        </p:nvSpPr>
        <p:spPr>
          <a:xfrm>
            <a:off x="502920" y="1243584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3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734A"/>
                </a:solidFill>
                <a:latin typeface="Calibri"/>
                <a:ea typeface="Calibri"/>
                <a:cs typeface="Calibri"/>
                <a:sym typeface="Calibri"/>
              </a:rPr>
              <a:t>The Core Challenge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9"/>
          <p:cNvSpPr/>
          <p:nvPr/>
        </p:nvSpPr>
        <p:spPr>
          <a:xfrm>
            <a:off x="502920" y="15544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retweet_count is extremely right-skewed — ~80% of tweets receive 0 retweets, while a handful go viral with thousands. Standard linear regression on the raw target yields R² ≈ 0.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320040" y="2240280"/>
            <a:ext cx="850392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9"/>
          <p:cNvSpPr/>
          <p:nvPr/>
        </p:nvSpPr>
        <p:spPr>
          <a:xfrm>
            <a:off x="320040" y="2240280"/>
            <a:ext cx="54864" cy="594360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502920" y="2304288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3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E8734A"/>
                </a:solidFill>
                <a:latin typeface="Calibri"/>
                <a:ea typeface="Calibri"/>
                <a:cs typeface="Calibri"/>
                <a:sym typeface="Calibri"/>
              </a:rPr>
              <a:t>Target Variable: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2697480" y="2304288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retweet_count  |  log1p-transformed for Model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320040" y="2907792"/>
            <a:ext cx="850392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320040" y="2907792"/>
            <a:ext cx="54864" cy="5943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502920" y="29718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Train/Test Split: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2697480" y="29718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80% training  /  20% testing  |  random_state = 25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320040" y="3575304"/>
            <a:ext cx="850392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320040" y="3575304"/>
            <a:ext cx="54864" cy="59436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502920" y="3639312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Baseline Features: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2697480" y="3639312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TextBlob Sentiment + 8 NRC Emotions + 5 LDA Topic Weights (14 features)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320040" y="4242816"/>
            <a:ext cx="850392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320040" y="4242816"/>
            <a:ext cx="54864" cy="59436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502920" y="4306824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Extended Features: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2697480" y="4306824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+ tweet_length, hashtag_count, mention_count, has_url, hour, day_of_week… (26 total)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7863840" y="486460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18 / 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0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MODEL 1 - LINEAR REGRESSION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0"/>
          <p:cNvSpPr/>
          <p:nvPr/>
        </p:nvSpPr>
        <p:spPr>
          <a:xfrm>
            <a:off x="365760" y="5943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Model 1: Sentiment + Emotions + Topic Weights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0"/>
          <p:cNvSpPr/>
          <p:nvPr/>
        </p:nvSpPr>
        <p:spPr>
          <a:xfrm>
            <a:off x="320040" y="3419856"/>
            <a:ext cx="8503920" cy="1389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0"/>
          <p:cNvSpPr/>
          <p:nvPr/>
        </p:nvSpPr>
        <p:spPr>
          <a:xfrm>
            <a:off x="320040" y="3419856"/>
            <a:ext cx="54864" cy="1389888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0"/>
          <p:cNvSpPr/>
          <p:nvPr/>
        </p:nvSpPr>
        <p:spPr>
          <a:xfrm>
            <a:off x="502920" y="349300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3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E8734A"/>
                </a:solidFill>
                <a:latin typeface="Calibri"/>
                <a:ea typeface="Calibri"/>
                <a:cs typeface="Calibri"/>
                <a:sym typeface="Calibri"/>
              </a:rPr>
              <a:t>Why R² ≈ 0?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0"/>
          <p:cNvSpPr/>
          <p:nvPr/>
        </p:nvSpPr>
        <p:spPr>
          <a:xfrm>
            <a:off x="502920" y="3840480"/>
            <a:ext cx="8046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Target is power-law distributed — ~80% of tweets get 0 retweets; outliers dominate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Linear model gives equal weight to all observations — massive MSE from viral outliers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Text-only features (sentiment, emotion, topics) have weak correlation with virality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Missing critical predictors: follower count, network effects, platform algorithm boost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0"/>
          <p:cNvSpPr/>
          <p:nvPr/>
        </p:nvSpPr>
        <p:spPr>
          <a:xfrm>
            <a:off x="7863840" y="486460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19 / 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4" name="Google Shape;5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1134" y="1143000"/>
            <a:ext cx="5318759" cy="2048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1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MODEL 2 - GRADIENT BOOSTING + FEATURE ENGINEERING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1"/>
          <p:cNvSpPr/>
          <p:nvPr/>
        </p:nvSpPr>
        <p:spPr>
          <a:xfrm>
            <a:off x="365760" y="5943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Three Key Improvements Over Model 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1"/>
          <p:cNvSpPr/>
          <p:nvPr/>
        </p:nvSpPr>
        <p:spPr>
          <a:xfrm>
            <a:off x="320040" y="3054096"/>
            <a:ext cx="274320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1"/>
          <p:cNvSpPr/>
          <p:nvPr/>
        </p:nvSpPr>
        <p:spPr>
          <a:xfrm>
            <a:off x="320040" y="3054096"/>
            <a:ext cx="2743200" cy="8229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1"/>
          <p:cNvSpPr/>
          <p:nvPr/>
        </p:nvSpPr>
        <p:spPr>
          <a:xfrm>
            <a:off x="475488" y="3200400"/>
            <a:ext cx="438912" cy="438912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1"/>
          <p:cNvSpPr/>
          <p:nvPr/>
        </p:nvSpPr>
        <p:spPr>
          <a:xfrm>
            <a:off x="475488" y="320040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1"/>
          <p:cNvSpPr/>
          <p:nvPr/>
        </p:nvSpPr>
        <p:spPr>
          <a:xfrm>
            <a:off x="987552" y="3200400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Log1p Target Transform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1"/>
          <p:cNvSpPr/>
          <p:nvPr/>
        </p:nvSpPr>
        <p:spPr>
          <a:xfrm>
            <a:off x="475488" y="3657600"/>
            <a:ext cx="24871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log1p(retweet_count) compresses skewed distribution → tractable regression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1"/>
          <p:cNvSpPr/>
          <p:nvPr/>
        </p:nvSpPr>
        <p:spPr>
          <a:xfrm>
            <a:off x="475488" y="4370832"/>
            <a:ext cx="2487168" cy="3474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1"/>
          <p:cNvSpPr/>
          <p:nvPr/>
        </p:nvSpPr>
        <p:spPr>
          <a:xfrm>
            <a:off x="530352" y="4389120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28090"/>
                </a:solidFill>
                <a:latin typeface="Consolas"/>
                <a:ea typeface="Consolas"/>
                <a:cs typeface="Consolas"/>
                <a:sym typeface="Consolas"/>
              </a:rPr>
              <a:t>y_log = np.log1p(retweet_count)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1"/>
          <p:cNvSpPr/>
          <p:nvPr/>
        </p:nvSpPr>
        <p:spPr>
          <a:xfrm>
            <a:off x="3172968" y="3054096"/>
            <a:ext cx="274320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1"/>
          <p:cNvSpPr/>
          <p:nvPr/>
        </p:nvSpPr>
        <p:spPr>
          <a:xfrm>
            <a:off x="3172968" y="3054096"/>
            <a:ext cx="2743200" cy="82296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1"/>
          <p:cNvSpPr/>
          <p:nvPr/>
        </p:nvSpPr>
        <p:spPr>
          <a:xfrm>
            <a:off x="3328416" y="3200400"/>
            <a:ext cx="438912" cy="438912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1"/>
          <p:cNvSpPr/>
          <p:nvPr/>
        </p:nvSpPr>
        <p:spPr>
          <a:xfrm>
            <a:off x="3328416" y="320040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1"/>
          <p:cNvSpPr/>
          <p:nvPr/>
        </p:nvSpPr>
        <p:spPr>
          <a:xfrm>
            <a:off x="3840480" y="3200400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Feature Engineering (12 new)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1"/>
          <p:cNvSpPr/>
          <p:nvPr/>
        </p:nvSpPr>
        <p:spPr>
          <a:xfrm>
            <a:off x="3328416" y="3657600"/>
            <a:ext cx="24871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tweet_length, hashtag_count, mention_count, has_url, hour, day_of_week, uppercase_ratio…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1"/>
          <p:cNvSpPr/>
          <p:nvPr/>
        </p:nvSpPr>
        <p:spPr>
          <a:xfrm>
            <a:off x="3328416" y="4370832"/>
            <a:ext cx="2487168" cy="3474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1"/>
          <p:cNvSpPr/>
          <p:nvPr/>
        </p:nvSpPr>
        <p:spPr>
          <a:xfrm>
            <a:off x="3383280" y="4389120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28090"/>
                </a:solidFill>
                <a:latin typeface="Consolas"/>
                <a:ea typeface="Consolas"/>
                <a:cs typeface="Consolas"/>
                <a:sym typeface="Consolas"/>
              </a:rPr>
              <a:t>26 total features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1"/>
          <p:cNvSpPr/>
          <p:nvPr/>
        </p:nvSpPr>
        <p:spPr>
          <a:xfrm>
            <a:off x="6025896" y="3054096"/>
            <a:ext cx="274320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1"/>
          <p:cNvSpPr/>
          <p:nvPr/>
        </p:nvSpPr>
        <p:spPr>
          <a:xfrm>
            <a:off x="6025896" y="3054096"/>
            <a:ext cx="2743200" cy="82296"/>
          </a:xfrm>
          <a:prstGeom prst="rect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1"/>
          <p:cNvSpPr/>
          <p:nvPr/>
        </p:nvSpPr>
        <p:spPr>
          <a:xfrm>
            <a:off x="6181344" y="3200400"/>
            <a:ext cx="438912" cy="438912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1"/>
          <p:cNvSpPr/>
          <p:nvPr/>
        </p:nvSpPr>
        <p:spPr>
          <a:xfrm>
            <a:off x="6181344" y="320040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1"/>
          <p:cNvSpPr/>
          <p:nvPr/>
        </p:nvSpPr>
        <p:spPr>
          <a:xfrm>
            <a:off x="6693408" y="3200400"/>
            <a:ext cx="20299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Gradient Boosting (300 trees)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1"/>
          <p:cNvSpPr/>
          <p:nvPr/>
        </p:nvSpPr>
        <p:spPr>
          <a:xfrm>
            <a:off x="6181344" y="3657600"/>
            <a:ext cx="24871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Captures non-linear interactions. Tried Ridge, Random Forest — GBM won.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1"/>
          <p:cNvSpPr/>
          <p:nvPr/>
        </p:nvSpPr>
        <p:spPr>
          <a:xfrm>
            <a:off x="6181344" y="4370832"/>
            <a:ext cx="2487168" cy="3474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1"/>
          <p:cNvSpPr/>
          <p:nvPr/>
        </p:nvSpPr>
        <p:spPr>
          <a:xfrm>
            <a:off x="6236208" y="4389120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28090"/>
                </a:solidFill>
                <a:latin typeface="Consolas"/>
                <a:ea typeface="Consolas"/>
                <a:cs typeface="Consolas"/>
                <a:sym typeface="Consolas"/>
              </a:rPr>
              <a:t>lr=0.05, depth=5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1"/>
          <p:cNvSpPr/>
          <p:nvPr/>
        </p:nvSpPr>
        <p:spPr>
          <a:xfrm>
            <a:off x="7863840" y="486460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 / 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8" name="Google Shape;5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0358" y="1069848"/>
            <a:ext cx="4243284" cy="174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2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MODEL 2 - FEATURE IMPORTANCE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2"/>
          <p:cNvSpPr/>
          <p:nvPr/>
        </p:nvSpPr>
        <p:spPr>
          <a:xfrm>
            <a:off x="365760" y="5943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Top Predictors of Retweet Engagement (GBM)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pptx_unpacked/ppt/media/image29.png" id="547" name="Google Shape;5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637" y="1314016"/>
            <a:ext cx="7667490" cy="309173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2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tweet_length › hashtag_count › mention_count › hour › has_url › trust (NRC)  — structural features dominate text-sentiment features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3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MODEL COMPARISON - MODEL 1 VS MODEL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3"/>
          <p:cNvSpPr/>
          <p:nvPr/>
        </p:nvSpPr>
        <p:spPr>
          <a:xfrm>
            <a:off x="365760" y="5943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Side-by-Side Results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8" name="Google Shape;558;p23"/>
          <p:cNvGraphicFramePr/>
          <p:nvPr/>
        </p:nvGraphicFramePr>
        <p:xfrm>
          <a:off x="320040" y="11704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{3D60AB67-7447-4A67-A9CE-9BCBBDFBCE8B}</a:tableStyleId>
              </a:tblPr>
              <a:tblGrid>
                <a:gridCol w="1920250"/>
                <a:gridCol w="1508750"/>
                <a:gridCol w="1554475"/>
              </a:tblGrid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D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5A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Algorithm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Linear Regression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raw retweet_count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log1p(retweet_count)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 (text only)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 (text + tweet-level)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/tmp/pptx_unpacked/ppt/media/image26.png" id="559" name="Google Shape;55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0680" y="1170432"/>
            <a:ext cx="3383280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23"/>
          <p:cNvSpPr/>
          <p:nvPr/>
        </p:nvSpPr>
        <p:spPr>
          <a:xfrm>
            <a:off x="7863840" y="486460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22 / 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1" name="Google Shape;5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211" y="3035348"/>
            <a:ext cx="4886466" cy="1615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4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OTHER APPROACHES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65760" y="5943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pptx_unpacked/ppt/media/image24.png" id="570" name="Google Shape;5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861501"/>
            <a:ext cx="8503920" cy="3966531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24"/>
          <p:cNvSpPr/>
          <p:nvPr/>
        </p:nvSpPr>
        <p:spPr>
          <a:xfrm>
            <a:off x="7863840" y="486460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23 / 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2D5A"/>
          </a:solidFill>
          <a:ln cap="flat" cmpd="sng" w="12700">
            <a:solidFill>
              <a:srgbClr val="1A2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5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OTHER APPROACHES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pptx_unpacked/ppt/media/image22.png" id="579" name="Google Shape;57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241" y="742950"/>
            <a:ext cx="8503920" cy="398019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25"/>
          <p:cNvSpPr/>
          <p:nvPr/>
        </p:nvSpPr>
        <p:spPr>
          <a:xfrm>
            <a:off x="7863840" y="486460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24 / 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D5A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6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6"/>
          <p:cNvSpPr/>
          <p:nvPr/>
        </p:nvSpPr>
        <p:spPr>
          <a:xfrm>
            <a:off x="731520" y="20116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Insights &amp; Takeaways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6"/>
          <p:cNvSpPr/>
          <p:nvPr/>
        </p:nvSpPr>
        <p:spPr>
          <a:xfrm>
            <a:off x="731520" y="1051560"/>
            <a:ext cx="475488" cy="475488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6"/>
          <p:cNvSpPr/>
          <p:nvPr/>
        </p:nvSpPr>
        <p:spPr>
          <a:xfrm>
            <a:off x="731520" y="105156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6"/>
          <p:cNvSpPr/>
          <p:nvPr/>
        </p:nvSpPr>
        <p:spPr>
          <a:xfrm>
            <a:off x="1353312" y="1051560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Election Day drove a sentiment surge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6"/>
          <p:cNvSpPr/>
          <p:nvPr/>
        </p:nvSpPr>
        <p:spPr>
          <a:xfrm>
            <a:off x="1353312" y="1389888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Tweet volume peaked at 45K on May 18. Post-election sentiment rose sharply with the surprise Coalition win.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6"/>
          <p:cNvSpPr/>
          <p:nvPr/>
        </p:nvSpPr>
        <p:spPr>
          <a:xfrm>
            <a:off x="4937760" y="1051560"/>
            <a:ext cx="475488" cy="475488"/>
          </a:xfrm>
          <a:prstGeom prst="ellipse">
            <a:avLst/>
          </a:prstGeom>
          <a:solidFill>
            <a:srgbClr val="F0A50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6"/>
          <p:cNvSpPr/>
          <p:nvPr/>
        </p:nvSpPr>
        <p:spPr>
          <a:xfrm>
            <a:off x="4937760" y="105156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6"/>
          <p:cNvSpPr/>
          <p:nvPr/>
        </p:nvSpPr>
        <p:spPr>
          <a:xfrm>
            <a:off x="5559552" y="1051560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Coalition tweets 87% more positive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6"/>
          <p:cNvSpPr/>
          <p:nvPr/>
        </p:nvSpPr>
        <p:spPr>
          <a:xfrm>
            <a:off x="5559552" y="1389888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Coalition coverage carried higher joy, trust, and sentiment scores than Labor coverage.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6"/>
          <p:cNvSpPr/>
          <p:nvPr/>
        </p:nvSpPr>
        <p:spPr>
          <a:xfrm>
            <a:off x="731520" y="2295144"/>
            <a:ext cx="475488" cy="475488"/>
          </a:xfrm>
          <a:prstGeom prst="ellipse">
            <a:avLst/>
          </a:prstGeom>
          <a:solidFill>
            <a:srgbClr val="E8734A"/>
          </a:solidFill>
          <a:ln cap="flat" cmpd="sng" w="12700">
            <a:solidFill>
              <a:srgbClr val="E87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6"/>
          <p:cNvSpPr/>
          <p:nvPr/>
        </p:nvSpPr>
        <p:spPr>
          <a:xfrm>
            <a:off x="731520" y="229514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6"/>
          <p:cNvSpPr/>
          <p:nvPr/>
        </p:nvSpPr>
        <p:spPr>
          <a:xfrm>
            <a:off x="1353312" y="2295144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Viral tweets are structurally different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6"/>
          <p:cNvSpPr/>
          <p:nvPr/>
        </p:nvSpPr>
        <p:spPr>
          <a:xfrm>
            <a:off x="1353312" y="2633472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Top 1% use 100% more hashtags, 111% more mentions — structure beats sentiment for viral reach.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6"/>
          <p:cNvSpPr/>
          <p:nvPr/>
        </p:nvSpPr>
        <p:spPr>
          <a:xfrm>
            <a:off x="4937760" y="2295144"/>
            <a:ext cx="475488" cy="475488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6"/>
          <p:cNvSpPr/>
          <p:nvPr/>
        </p:nvSpPr>
        <p:spPr>
          <a:xfrm>
            <a:off x="4937760" y="229514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6"/>
          <p:cNvSpPr/>
          <p:nvPr/>
        </p:nvSpPr>
        <p:spPr>
          <a:xfrm>
            <a:off x="5559552" y="2295144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Fear → Joy: the emotional arc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6"/>
          <p:cNvSpPr/>
          <p:nvPr/>
        </p:nvSpPr>
        <p:spPr>
          <a:xfrm>
            <a:off x="5559552" y="2633472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Fear built pre-election; joy and trust surged after — matching the surprise Coalition victory narrative.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6"/>
          <p:cNvSpPr/>
          <p:nvPr/>
        </p:nvSpPr>
        <p:spPr>
          <a:xfrm>
            <a:off x="731520" y="3538728"/>
            <a:ext cx="475488" cy="47548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6"/>
          <p:cNvSpPr/>
          <p:nvPr/>
        </p:nvSpPr>
        <p:spPr>
          <a:xfrm>
            <a:off x="731520" y="353872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6"/>
          <p:cNvSpPr/>
          <p:nvPr/>
        </p:nvSpPr>
        <p:spPr>
          <a:xfrm>
            <a:off x="1353312" y="3538728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Topics have distinct emotional tones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6"/>
          <p:cNvSpPr/>
          <p:nvPr/>
        </p:nvSpPr>
        <p:spPr>
          <a:xfrm>
            <a:off x="1353312" y="3877056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Climate tweets: most anger &amp; fear. Morrison/Victory: most joy &amp; trust. Voting Day: most joyful.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6"/>
          <p:cNvSpPr/>
          <p:nvPr/>
        </p:nvSpPr>
        <p:spPr>
          <a:xfrm>
            <a:off x="4937760" y="3538728"/>
            <a:ext cx="475488" cy="47548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6"/>
          <p:cNvSpPr/>
          <p:nvPr/>
        </p:nvSpPr>
        <p:spPr>
          <a:xfrm>
            <a:off x="4937760" y="353872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D5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A2D5A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6"/>
          <p:cNvSpPr/>
          <p:nvPr/>
        </p:nvSpPr>
        <p:spPr>
          <a:xfrm>
            <a:off x="5559552" y="3538728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2 (GBM) is 45× better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6"/>
          <p:cNvSpPr/>
          <p:nvPr/>
        </p:nvSpPr>
        <p:spPr>
          <a:xfrm>
            <a:off x="5559552" y="3877056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log1p transform + 26 features + Gradient Boosting lifts R² from 0.001 → 0.089.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E3D"/>
          </a:solidFill>
          <a:ln cap="flat" cmpd="sng" w="12700">
            <a:solidFill>
              <a:srgbClr val="0D1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6"/>
          <p:cNvSpPr/>
          <p:nvPr/>
        </p:nvSpPr>
        <p:spPr>
          <a:xfrm>
            <a:off x="731520" y="4754880"/>
            <a:ext cx="82296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OPIM 5671  |  University of Connecticut  |  Team: Logan Terr · Zarina Owens · Anushka Rajoriya · Niharika Sharma · Wendy Zheng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2026-04-22T01:24:25Z</dcterms:created>
  <dc:creator>PptxGenJS</dc:creator>
</cp:coreProperties>
</file>